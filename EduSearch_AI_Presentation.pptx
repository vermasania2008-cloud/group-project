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728655" cy="557784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283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051560"/>
            <a:ext cx="2926080" cy="365760"/>
          </a:xfrm>
          <a:prstGeom prst="roundRect">
            <a:avLst/>
          </a:prstGeom>
          <a:solidFill>
            <a:srgbClr val="1B2848"/>
          </a:solidFill>
          <a:ln w="1905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E5A3"/>
                </a:solidFill>
                <a:latin typeface="Segoe UI"/>
              </a:defRPr>
            </a:pPr>
            <a:r>
              <a:t>✦ AI-POWERED ACADEMIC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508760"/>
            <a:ext cx="68580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Segoe UI"/>
              </a:defRPr>
            </a:pPr>
            <a:r>
              <a:t>EduSearch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14600"/>
            <a:ext cx="68580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38BDF8"/>
                </a:solidFill>
                <a:latin typeface="Segoe UI"/>
              </a:defRPr>
            </a:pPr>
            <a:r>
              <a:t>AI-Powered Smart Learning &amp; Productivity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154680"/>
            <a:ext cx="65836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>
                <a:solidFill>
                  <a:srgbClr val="E2E8F0"/>
                </a:solidFill>
                <a:latin typeface="Segoe UI"/>
              </a:defRPr>
            </a:pPr>
            <a:r>
              <a:t>A unified student workspace integrating intelligent question paper analysis, Gemini-driven tutoring, adaptive focus scheduling, and daily achievement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3977639"/>
            <a:ext cx="1536192" cy="320040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2E8F0"/>
                </a:solidFill>
                <a:latin typeface="Segoe UI"/>
              </a:defRPr>
            </a:pPr>
            <a:r>
              <a:t>Gemini 3.6 Multimodal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3977639"/>
            <a:ext cx="1536192" cy="320040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2E8F0"/>
                </a:solidFill>
                <a:latin typeface="Segoe UI"/>
              </a:defRPr>
            </a:pPr>
            <a:r>
              <a:t>Automated Paper Parsing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3977639"/>
            <a:ext cx="1536192" cy="320040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2E8F0"/>
                </a:solidFill>
                <a:latin typeface="Segoe UI"/>
              </a:defRPr>
            </a:pPr>
            <a:r>
              <a:t>Smart Timetable &amp; Timer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25896" y="3977639"/>
            <a:ext cx="1536192" cy="320040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2E8F0"/>
                </a:solidFill>
                <a:latin typeface="Segoe UI"/>
              </a:defRPr>
            </a:pPr>
            <a:r>
              <a:t>Session 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51560"/>
            <a:ext cx="2926080" cy="4709160"/>
          </a:xfrm>
          <a:prstGeom prst="roundRect">
            <a:avLst/>
          </a:prstGeom>
          <a:solidFill>
            <a:srgbClr val="1B284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2344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PROJECT METRICS &amp;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691640"/>
            <a:ext cx="2560320" cy="457200"/>
          </a:xfrm>
          <a:prstGeom prst="rect">
            <a:avLst/>
          </a:prstGeom>
          <a:noFill/>
        </p:spPr>
        <p:txBody>
          <a:bodyPr wrap="square" tIns="0" l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Core Framework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Streamlit Multi-Page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331720"/>
            <a:ext cx="2560320" cy="457200"/>
          </a:xfrm>
          <a:prstGeom prst="rect">
            <a:avLst/>
          </a:prstGeom>
          <a:noFill/>
        </p:spPr>
        <p:txBody>
          <a:bodyPr wrap="square" tIns="0" l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Intelligence Engine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Google Gemini 3.6 Flash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71800"/>
            <a:ext cx="2560320" cy="457200"/>
          </a:xfrm>
          <a:prstGeom prst="rect">
            <a:avLst/>
          </a:prstGeom>
          <a:noFill/>
        </p:spPr>
        <p:txBody>
          <a:bodyPr wrap="square" tIns="0" l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Document Processing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PyPDF Text &amp; Regex Tokenizer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611880"/>
            <a:ext cx="2560320" cy="457200"/>
          </a:xfrm>
          <a:prstGeom prst="rect">
            <a:avLst/>
          </a:prstGeom>
          <a:noFill/>
        </p:spPr>
        <p:txBody>
          <a:bodyPr wrap="square" tIns="0" l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Persistence Layer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SQLite Databases (auth &amp; chats)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251960"/>
            <a:ext cx="2560320" cy="457200"/>
          </a:xfrm>
          <a:prstGeom prst="rect">
            <a:avLst/>
          </a:prstGeom>
          <a:noFill/>
        </p:spPr>
        <p:txBody>
          <a:bodyPr wrap="square" tIns="0" l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Design Philosophy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Card-Based Dark/Teal UI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892040"/>
            <a:ext cx="2560320" cy="457200"/>
          </a:xfrm>
          <a:prstGeom prst="rect">
            <a:avLst/>
          </a:prstGeom>
          <a:noFill/>
        </p:spPr>
        <p:txBody>
          <a:bodyPr wrap="square" tIns="0" l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Security Model</a:t>
            </a:r>
          </a:p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SHA-256 Auth &amp; Session Tokens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526280"/>
            <a:ext cx="6720840" cy="1234440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283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617720"/>
            <a:ext cx="2011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E5A3"/>
                </a:solidFill>
                <a:latin typeface="Segoe UI"/>
              </a:defRPr>
            </a:pPr>
            <a:r>
              <a:t>PRESENTED BY</a:t>
            </a:r>
          </a:p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[Student Name / Lead]</a:t>
            </a:r>
            <a:br/>
            <a:r>
              <a:t>Roll No: [XXXXXX]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617720"/>
            <a:ext cx="2103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B5CF6"/>
                </a:solidFill>
                <a:latin typeface="Segoe UI"/>
              </a:defRPr>
            </a:pPr>
            <a:r>
              <a:t>TEAM MEMBERS</a:t>
            </a:r>
          </a:p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• [Member 1 - Full Stack]</a:t>
            </a:r>
            <a:br/>
            <a:r>
              <a:t>• [Member 2 - AI Integration]</a:t>
            </a:r>
            <a:br/>
            <a:r>
              <a:t>• [Member 3 - UI/UX Design]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617720"/>
            <a:ext cx="2011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COLLEGE / INSTITUTION</a:t>
            </a:r>
          </a:p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[Department of Computer Science]</a:t>
            </a:r>
            <a:br/>
            <a:r>
              <a:t>[Institution / University Name]</a:t>
            </a:r>
            <a:br/>
            <a:r>
              <a:t>Academic Year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A3"/>
                </a:solidFill>
                <a:latin typeface="Segoe UI"/>
              </a:defRPr>
            </a:pPr>
            <a:r>
              <a:t>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Introduction to EduSearch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Next-generation academic workspace unifying AI assistance with student workflow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542032" cy="356616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057400"/>
            <a:ext cx="1280160" cy="256032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E5A3"/>
                </a:solidFill>
                <a:latin typeface="Segoe UI"/>
              </a:defRPr>
            </a:pPr>
            <a:r>
              <a:t>CORE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217627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AI-Powered Learning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176272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Built to empower students through cutting-edge artificial intelligence, transforming unstructured study materials into high-yield learning pathways.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892040"/>
            <a:ext cx="2176272" cy="320040"/>
          </a:xfrm>
          <a:prstGeom prst="roundRect">
            <a:avLst/>
          </a:prstGeom>
          <a:solidFill>
            <a:srgbClr val="1B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E5A3"/>
                </a:solidFill>
                <a:latin typeface="Segoe UI"/>
              </a:defRPr>
            </a:pPr>
            <a:r>
              <a:t>★ Generative Tutoring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828800"/>
            <a:ext cx="2542032" cy="356616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2057400"/>
            <a:ext cx="1280160" cy="256032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UNIFIED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450592"/>
            <a:ext cx="217627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Integrated Study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3246120"/>
            <a:ext cx="2176272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Seamlessly fuses active AI assistance with study schedule generation, focused timing blocks, and automated daily progress monitoring.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39312" y="4892040"/>
            <a:ext cx="2176272" cy="320040"/>
          </a:xfrm>
          <a:prstGeom prst="roundRect">
            <a:avLst/>
          </a:prstGeom>
          <a:solidFill>
            <a:srgbClr val="1B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★ Study Sync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828800"/>
            <a:ext cx="2542032" cy="356616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64224" y="2057400"/>
            <a:ext cx="1280160" cy="256032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8B5CF6"/>
                </a:solidFill>
                <a:latin typeface="Segoe UI"/>
              </a:defRPr>
            </a:pPr>
            <a:r>
              <a:t>CENTRALIZED SUITE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450592"/>
            <a:ext cx="217627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All-in-One Educational Suite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246120"/>
            <a:ext cx="2176272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Eliminates tool fragmentation by centralizing question paper analysis, document-grounded Q&amp;A, and milestone tracking into a single interface.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64224" y="4892040"/>
            <a:ext cx="2176272" cy="320040"/>
          </a:xfrm>
          <a:prstGeom prst="roundRect">
            <a:avLst/>
          </a:prstGeom>
          <a:solidFill>
            <a:srgbClr val="1B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★ No Tool Hopping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6256" y="1828800"/>
            <a:ext cx="2542032" cy="356616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89136" y="2057400"/>
            <a:ext cx="1280160" cy="256032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59E0B"/>
                </a:solidFill>
                <a:latin typeface="Segoe UI"/>
              </a:defRPr>
            </a:pPr>
            <a:r>
              <a:t>PROVEN OUTCOMES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2450592"/>
            <a:ext cx="217627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Organized, Interactive &amp; Efficient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3246120"/>
            <a:ext cx="2176272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Converts passive reading into active, data-driven revision, enhancing exam preparedness and study habit consistency.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9136" y="4892040"/>
            <a:ext cx="2176272" cy="320040"/>
          </a:xfrm>
          <a:prstGeom prst="roundRect">
            <a:avLst/>
          </a:prstGeom>
          <a:solidFill>
            <a:srgbClr val="1B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  <a:latin typeface="Segoe UI"/>
              </a:defRPr>
            </a:pPr>
            <a:r>
              <a:t>★ Smart Results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283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1500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ARCHITECTURE HIGHLIGHT: Engineered as a modular Streamlit multi-page platform backed by local SQLite persistence and Google Gemini 3.6 Flash for responsive student interactions.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A3"/>
                </a:solidFill>
                <a:latin typeface="Segoe UI"/>
              </a:defRPr>
            </a:pPr>
            <a:r>
              <a:t>MARKET NEED &amp;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Problem Statement: Challenges Faced by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Current study workflows are fragmented, inefficient, and lack intelligent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56432" cy="169164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38528"/>
            <a:ext cx="3127248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⏱  PAIN POINT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12848"/>
            <a:ext cx="3127248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Difficulty Managing Study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06040"/>
            <a:ext cx="3127248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Students struggle to allocate focused time blocks across extensive syllabi, leading to severe last-minute cramming and academic stress.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828800"/>
            <a:ext cx="3456432" cy="169164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938528"/>
            <a:ext cx="3127248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🧩  PAIN POINT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212848"/>
            <a:ext cx="3127248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Lack of Centralized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606040"/>
            <a:ext cx="3127248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Students constantly juggle between multiple disparate applications for notes, timers, question papers, and query resolution.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28800"/>
            <a:ext cx="3456432" cy="169164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938528"/>
            <a:ext cx="3127248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📄  PAIN POINT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212848"/>
            <a:ext cx="3127248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Tedious Question Paper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2606040"/>
            <a:ext cx="3127248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Manual cross-referencing of previous examination papers is time-consuming and often fails to identify recurring high-yield question patterns.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03320"/>
            <a:ext cx="3456432" cy="169164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813048"/>
            <a:ext cx="3127248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🎯  PAIN POINT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087368"/>
            <a:ext cx="3127248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No Daily Achievement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480560"/>
            <a:ext cx="3127248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Absence of structured micro-goal tracking causes loss of daily study momentum and reduces student accountability over time.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703320"/>
            <a:ext cx="3456432" cy="169164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424" y="3813048"/>
            <a:ext cx="3127248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📊  PAIN POINT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4087368"/>
            <a:ext cx="3127248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Lack of Long-Term Progress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4480560"/>
            <a:ext cx="3127248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Students cannot easily review historical queries, previous exam breakdowns, or track study improvements across semesters.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703320"/>
            <a:ext cx="3456432" cy="169164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65592" y="3813048"/>
            <a:ext cx="3127248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🤖  PAIN POINT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4087368"/>
            <a:ext cx="3127248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Need for Context-Aware AI Tutor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4480560"/>
            <a:ext cx="3127248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Generic search engines fail to provide structured, curriculum-grounded explanations specifically tailored to syllabus documents.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1B284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71500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  <a:latin typeface="Segoe UI"/>
              </a:defRPr>
            </a:pPr>
            <a:r>
              <a:t>CORE PROBLEM IMPACT: Disconnected study tools and manual paper analysis cause significant study fatigue, inefficient preparation, and missed academic targets.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A3"/>
                </a:solidFill>
                <a:latin typeface="Segoe UI"/>
              </a:defRPr>
            </a:pPr>
            <a:r>
              <a:t>END-TO-END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Proposed Solution: The EduSearch AI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An integrated pipeline connecting user authentication to continuous learning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353312" cy="228600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502920" cy="29260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E5A3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68880"/>
            <a:ext cx="1133856" cy="457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971800"/>
            <a:ext cx="1133856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Secure SHA-256 Auth &amp; User Isolation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84832" y="2560320"/>
            <a:ext cx="201168" cy="4572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1920240"/>
            <a:ext cx="1353312" cy="228600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23160" y="2057400"/>
            <a:ext cx="502920" cy="29260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468880"/>
            <a:ext cx="1133856" cy="457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8" y="2971800"/>
            <a:ext cx="1133856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Central Command Center &amp;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560320"/>
            <a:ext cx="201168" cy="4572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1920240"/>
            <a:ext cx="1353312" cy="228600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77640" y="2057400"/>
            <a:ext cx="502920" cy="29260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8B5CF6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0208" y="2468880"/>
            <a:ext cx="1133856" cy="457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AI 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0208" y="2971800"/>
            <a:ext cx="1133856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Document-Grounded Gemini 3.6 Tutoring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560320"/>
            <a:ext cx="201168" cy="4572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4960" y="1920240"/>
            <a:ext cx="1353312" cy="228600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532120" y="2057400"/>
            <a:ext cx="502920" cy="29260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43F5E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4688" y="2468880"/>
            <a:ext cx="1133856" cy="457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Analyzer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4688" y="2971800"/>
            <a:ext cx="1133856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PDF Question Parsing &amp; Pattern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2560320"/>
            <a:ext cx="201168" cy="4572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1920240"/>
            <a:ext cx="1353312" cy="228600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86600" y="2057400"/>
            <a:ext cx="502920" cy="29260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2468880"/>
            <a:ext cx="1133856" cy="457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Study Timer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2971800"/>
            <a:ext cx="1133856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AI Timetable Generation &amp; Focus Blocks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2560320"/>
            <a:ext cx="201168" cy="4572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20" y="1920240"/>
            <a:ext cx="1353312" cy="228600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41080" y="2057400"/>
            <a:ext cx="502920" cy="29260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E5A3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13648" y="2468880"/>
            <a:ext cx="1133856" cy="457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Achievement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2971800"/>
            <a:ext cx="1133856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Daily Goal Logging &amp; Streaks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7232" y="2560320"/>
            <a:ext cx="201168" cy="4572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0" y="1920240"/>
            <a:ext cx="1353312" cy="228600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195560" y="2057400"/>
            <a:ext cx="502920" cy="29260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8128" y="2468880"/>
            <a:ext cx="1133856" cy="457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Segoe UI"/>
              </a:defRPr>
            </a:pPr>
            <a:r>
              <a:t>History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68128" y="2971800"/>
            <a:ext cx="1133856" cy="10972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Persistent SQLite Session Audit Trail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480560"/>
            <a:ext cx="10728655" cy="1920240"/>
          </a:xfrm>
          <a:prstGeom prst="roundRect">
            <a:avLst/>
          </a:prstGeom>
          <a:solidFill>
            <a:srgbClr val="1B2848"/>
          </a:solidFill>
          <a:ln w="15240">
            <a:solidFill>
              <a:srgbClr val="283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6177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0E5A3"/>
                </a:solidFill>
                <a:latin typeface="Segoe UI"/>
              </a:defRPr>
            </a:pPr>
            <a:r>
              <a:t>HOW THESE FEATURES WORK TOGETHER AS AN INTEGRATED 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4983480"/>
            <a:ext cx="1005840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✔  Unified Data Loop: </a:t>
            </a:r>
            <a:r>
              <a:rPr b="0">
                <a:solidFill>
                  <a:srgbClr val="E2E8F0"/>
                </a:solidFill>
              </a:rPr>
              <a:t>Extracted questions and analyzed exam topics directly inform the AI Timetable generator to prioritize high-weightage topics.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394960"/>
            <a:ext cx="1005840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✔  Context-Aware Tutoring: </a:t>
            </a:r>
            <a:r>
              <a:rPr b="0">
                <a:solidFill>
                  <a:srgbClr val="E2E8F0"/>
                </a:solidFill>
              </a:rPr>
              <a:t>Students encountering difficult questions in analyzer or timetable can send them directly to the AI Assistant with 1-click.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5806440"/>
            <a:ext cx="10058400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✔  Accountability Engine: </a:t>
            </a:r>
            <a:r>
              <a:rPr b="0">
                <a:solidFill>
                  <a:srgbClr val="E2E8F0"/>
                </a:solidFill>
              </a:rPr>
              <a:t>Focus timer sessions automatically record into Today's Achievements, updating daily streaks and historical progress.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A3"/>
                </a:solidFill>
                <a:latin typeface="Segoe UI"/>
              </a:defRPr>
            </a:pPr>
            <a:r>
              <a:t>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EduSearch AI Dashboard: Student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Centralized overview providing single-click navigation, live metrics, and study readiness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114800" cy="457200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83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CENTRALIZED DASHBOARD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3657600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▸ Consolidated Activity Overview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Displays real-time counts of papers analyzed, questions discovered, and core topics mapped.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3657600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▸ Instant Quick Access Hub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Streamlined 1-click routing to Today's Achievements, AI Assistant, Question Analyzer, and History.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389120"/>
            <a:ext cx="3657600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▸ Personalized Student Greeting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Dynamic user-tailored session greeting pulling from active authentication state.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349240"/>
            <a:ext cx="3657600" cy="8229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▸ System Readiness Status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Visual status pill confirming database availability and AI service readiness.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28800"/>
            <a:ext cx="6339535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828800"/>
            <a:ext cx="6339535" cy="347472"/>
          </a:xfrm>
          <a:prstGeom prst="rect">
            <a:avLst/>
          </a:prstGeom>
          <a:solidFill>
            <a:srgbClr val="1B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  ● ● ●   EduSearch AI — Dashboard Workspace  (dash.py)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2176272"/>
            <a:ext cx="1645920" cy="4224528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286000"/>
            <a:ext cx="1463040" cy="3931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1">
                <a:solidFill>
                  <a:srgbClr val="00E5A3"/>
                </a:solidFill>
                <a:latin typeface="Segoe UI"/>
              </a:defRPr>
            </a:pPr>
            <a:r>
              <a:t>EDUSEARCH AI</a:t>
            </a:r>
            <a:br/>
            <a:r>
              <a:t>Smart Practice.</a:t>
            </a:r>
          </a:p>
          <a:p>
            <a:br/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⊞ Dashboard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📄 Question Analyzer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🤖 AI Assistant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📅 Timetable Maker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🏆 Today Achievement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🕒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331720"/>
            <a:ext cx="4389120" cy="1097280"/>
          </a:xfrm>
          <a:prstGeom prst="roundRect">
            <a:avLst/>
          </a:prstGeom>
          <a:solidFill>
            <a:srgbClr val="131D36"/>
          </a:solidFill>
          <a:ln w="12700">
            <a:solidFill>
              <a:srgbClr val="283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2423160"/>
            <a:ext cx="4114800" cy="9144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800" b="1">
                <a:solidFill>
                  <a:srgbClr val="00E5A3"/>
                </a:solidFill>
                <a:latin typeface="Segoe UI"/>
              </a:defRPr>
            </a:pPr>
            <a:r>
              <a:t>✦ YOUR STUDY COMMAND CENTER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EduSearch AI Dashboard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Turn question papers into a sharper, more confident study plan.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3566160"/>
            <a:ext cx="1033271" cy="777240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283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76872" y="3611880"/>
            <a:ext cx="886968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12</a:t>
            </a:r>
          </a:p>
          <a:p>
            <a:pPr>
              <a:defRPr sz="750">
                <a:solidFill>
                  <a:srgbClr val="E2E8F0"/>
                </a:solidFill>
                <a:latin typeface="Segoe UI"/>
              </a:defRPr>
            </a:pPr>
            <a:r>
              <a:t>Papers Analyzed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9288" y="3566160"/>
            <a:ext cx="1033271" cy="777240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283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3611880"/>
            <a:ext cx="886968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148</a:t>
            </a:r>
          </a:p>
          <a:p>
            <a:pPr>
              <a:defRPr sz="750">
                <a:solidFill>
                  <a:srgbClr val="E2E8F0"/>
                </a:solidFill>
                <a:latin typeface="Segoe UI"/>
              </a:defRPr>
            </a:pPr>
            <a:r>
              <a:t>Questions Found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34856" y="3566160"/>
            <a:ext cx="1033271" cy="777240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283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8" y="3611880"/>
            <a:ext cx="886968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26</a:t>
            </a:r>
          </a:p>
          <a:p>
            <a:pPr>
              <a:defRPr sz="750">
                <a:solidFill>
                  <a:srgbClr val="E2E8F0"/>
                </a:solidFill>
                <a:latin typeface="Segoe UI"/>
              </a:defRPr>
            </a:pPr>
            <a:r>
              <a:t>Topics Detected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50424" y="3566160"/>
            <a:ext cx="1033271" cy="777240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283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23576" y="3611880"/>
            <a:ext cx="886968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Ready</a:t>
            </a:r>
          </a:p>
          <a:p>
            <a:pPr>
              <a:defRPr sz="750">
                <a:solidFill>
                  <a:srgbClr val="E2E8F0"/>
                </a:solidFill>
                <a:latin typeface="Segoe UI"/>
              </a:defRPr>
            </a:pPr>
            <a:r>
              <a:t>Study Streak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4480560"/>
            <a:ext cx="1408176" cy="8686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4553712"/>
            <a:ext cx="1225296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Today's Achievement</a:t>
            </a:r>
          </a:p>
          <a:p>
            <a:pPr>
              <a:defRPr sz="750">
                <a:solidFill>
                  <a:srgbClr val="94A3B8"/>
                </a:solidFill>
                <a:latin typeface="Segoe UI"/>
              </a:defRPr>
            </a:pPr>
            <a:r>
              <a:t>Track 148 questions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94192" y="4480560"/>
            <a:ext cx="1408176" cy="8686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85632" y="4553712"/>
            <a:ext cx="1225296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AI Assistant</a:t>
            </a:r>
          </a:p>
          <a:p>
            <a:pPr>
              <a:defRPr sz="750">
                <a:solidFill>
                  <a:srgbClr val="94A3B8"/>
                </a:solidFill>
                <a:latin typeface="Segoe UI"/>
              </a:defRPr>
            </a:pPr>
            <a:r>
              <a:t>Ask, explore &amp; study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84664" y="4480560"/>
            <a:ext cx="1408176" cy="86868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76104" y="4553712"/>
            <a:ext cx="1225296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History</a:t>
            </a:r>
          </a:p>
          <a:p>
            <a:pPr>
              <a:defRPr sz="750">
                <a:solidFill>
                  <a:srgbClr val="94A3B8"/>
                </a:solidFill>
                <a:latin typeface="Segoe UI"/>
              </a:defRPr>
            </a:pPr>
            <a:r>
              <a:t>Review past 12 papers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532120"/>
            <a:ext cx="4389120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850">
                <a:solidFill>
                  <a:srgbClr val="00E5A3"/>
                </a:solidFill>
                <a:latin typeface="Segoe UI"/>
              </a:defRPr>
            </a:pPr>
            <a:r>
              <a:t>⚡ Real-time Streamlit session state links dashboard actions directly with local SQLite databases for instant page switches and data consistency.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A3"/>
                </a:solidFill>
                <a:latin typeface="Segoe UI"/>
              </a:defRPr>
            </a:pPr>
            <a:r>
              <a:t>INTELLIGENCE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AI Assistant: Context-Aware Academic Tutor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Powered by Google Gemini 3.6 Flash with document grounding and multi-key resilience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754880" cy="457200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83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Segoe UI"/>
              </a:defRPr>
            </a:pPr>
            <a:r>
              <a:t>KEY CAPABILITIES &amp;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✔  Multimodal Document Grounding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Students upload PDF notes or exam guidelines; Gemini analyzes the file directly as primary evidence, preventing hallucinations.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72968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✔  Interactive Concept Explanation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Breaks down difficult theorems, code, and definitions into bulleted, digestible steps with academic rigor.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22776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✔  Multi-Key API Key Rotation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Implements automatic key rotation across backup API keys (GEMINI_API_KEY_1 to 10) for continuous high availability.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672584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✔  Persistent SQLite Chat Archival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Automatically records questions, answers, dates, and timestamps into chat_history.db for later revision.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422392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✔  Personalized Study Prompting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Employs strict academic tutor system instructions ensuring college-level pedagogical precision.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828800"/>
            <a:ext cx="5699455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0" y="1828800"/>
            <a:ext cx="5699455" cy="548640"/>
          </a:xfrm>
          <a:prstGeom prst="rect">
            <a:avLst/>
          </a:prstGeom>
          <a:solidFill>
            <a:srgbClr val="1B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E5A3"/>
                </a:solidFill>
                <a:latin typeface="Segoe UI"/>
              </a:defRPr>
            </a:pPr>
            <a:r>
              <a:t>   🤖  EduSearch AI Tutor  •  Active Model: Gemini 3.6 Flash  •  Status: Online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2560320"/>
            <a:ext cx="4480560" cy="777240"/>
          </a:xfrm>
          <a:prstGeom prst="roundRect">
            <a:avLst/>
          </a:prstGeom>
          <a:solidFill>
            <a:srgbClr val="131D3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2606040"/>
            <a:ext cx="420624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850" b="1">
                <a:solidFill>
                  <a:srgbClr val="38BDF8"/>
                </a:solidFill>
                <a:latin typeface="Segoe UI"/>
              </a:defRPr>
            </a:pPr>
            <a:r>
              <a:t>📎 Attached: Data_Structures_Unit3.pdf</a:t>
            </a:r>
          </a:p>
          <a:p>
            <a:pPr>
              <a:defRPr sz="950">
                <a:solidFill>
                  <a:srgbClr val="FFFFFF"/>
                </a:solidFill>
                <a:latin typeface="Segoe UI"/>
              </a:defRPr>
            </a:pPr>
            <a:r>
              <a:t>Can you explain Dijkstra's algorithm from this PDF and list common exam traps?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3474720"/>
            <a:ext cx="5257800" cy="2011680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566160"/>
            <a:ext cx="4892040" cy="1828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Segoe UI"/>
              </a:defRPr>
            </a:pPr>
            <a:r>
              <a:t>EduSearch Academic Tutor (Grounding Source: Unit3.pdf)</a:t>
            </a:r>
          </a:p>
          <a:p>
            <a:pPr>
              <a:defRPr sz="880">
                <a:solidFill>
                  <a:srgbClr val="E2E8F0"/>
                </a:solidFill>
                <a:latin typeface="Segoe UI"/>
              </a:defRPr>
            </a:pPr>
            <a:r>
              <a:t>• Core Concept: Greedy shortest-path algorithm for weighted graphs with non-negative edges.</a:t>
            </a:r>
          </a:p>
          <a:p>
            <a:pPr>
              <a:defRPr sz="880">
                <a:solidFill>
                  <a:srgbClr val="E2E8F0"/>
                </a:solidFill>
                <a:latin typeface="Segoe UI"/>
              </a:defRPr>
            </a:pPr>
            <a:r>
              <a:t>• Data Structure: Utilizes a Min-Priority Queue yielding O((V + E) log V) time complexity.</a:t>
            </a:r>
          </a:p>
          <a:p>
            <a:pPr>
              <a:defRPr sz="880">
                <a:solidFill>
                  <a:srgbClr val="E2E8F0"/>
                </a:solidFill>
                <a:latin typeface="Segoe UI"/>
              </a:defRPr>
            </a:pPr>
            <a:r>
              <a:t>• Exam Trap #1: Does NOT support negative edge weights (requires Bellman-Ford instead).</a:t>
            </a:r>
          </a:p>
          <a:p>
            <a:pPr>
              <a:defRPr sz="880">
                <a:solidFill>
                  <a:srgbClr val="E2E8F0"/>
                </a:solidFill>
                <a:latin typeface="Segoe UI"/>
              </a:defRPr>
            </a:pPr>
            <a:r>
              <a:t>• Exam Trap #2: Forgetting to mark nodes as visited leads to redundant relaxation steps.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5669280"/>
            <a:ext cx="5257800" cy="548640"/>
          </a:xfrm>
          <a:prstGeom prst="roundRect">
            <a:avLst/>
          </a:prstGeom>
          <a:solidFill>
            <a:srgbClr val="131D36"/>
          </a:solidFill>
          <a:ln w="12700">
            <a:solidFill>
              <a:srgbClr val="283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5742432"/>
            <a:ext cx="4892040" cy="41148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Ask a follow-up question or upload another syllabus note...             [Send ➔]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A3"/>
                </a:solidFill>
                <a:latin typeface="Segoe UI"/>
              </a:defRPr>
            </a:pPr>
            <a:r>
              <a:t>DOCUMENT &amp; AUDIO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Speech &amp; Paper Analyzer: Exam Pattern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Automating previous-year question paper parsing to uncover high-weightage topics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542032" cy="192024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965960"/>
            <a:ext cx="1005840" cy="256032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E5A3"/>
                </a:solidFill>
                <a:latin typeface="Segoe UI"/>
              </a:defRPr>
            </a:pPr>
            <a: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2267712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Input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2267712" cy="8686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Upload multiple PDF question papers or speech/audio lecture transcripts.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828800"/>
            <a:ext cx="2542032" cy="192024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93592" y="1965960"/>
            <a:ext cx="1005840" cy="256032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331720"/>
            <a:ext cx="2267712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AI Text 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743200"/>
            <a:ext cx="2267712" cy="8686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PyPDF layout-aware text extraction &amp; regex question segmentation.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828800"/>
            <a:ext cx="2542032" cy="192024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18504" y="1965960"/>
            <a:ext cx="1005840" cy="256032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8B5CF6"/>
                </a:solidFill>
                <a:latin typeface="Segoe UI"/>
              </a:defRPr>
            </a:pPr>
            <a:r>
              <a:t>STAGE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331720"/>
            <a:ext cx="2267712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Pattern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743200"/>
            <a:ext cx="2267712" cy="8686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Question frequency matching &amp; topic normalization across papers.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1828800"/>
            <a:ext cx="2542032" cy="192024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43416" y="1965960"/>
            <a:ext cx="1005840" cy="256032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59E0B"/>
                </a:solidFill>
                <a:latin typeface="Segoe UI"/>
              </a:defRPr>
            </a:pPr>
            <a:r>
              <a:t>STAGE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2331720"/>
            <a:ext cx="2267712" cy="365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Targeted 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743200"/>
            <a:ext cx="2267712" cy="8686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Ranked high-yield question groups &amp; frequency distribution report.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77639"/>
            <a:ext cx="4937760" cy="2423160"/>
          </a:xfrm>
          <a:prstGeom prst="roundRect">
            <a:avLst/>
          </a:prstGeom>
          <a:solidFill>
            <a:srgbClr val="1B2848"/>
          </a:solidFill>
          <a:ln w="15240">
            <a:solidFill>
              <a:srgbClr val="283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06908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A3"/>
                </a:solidFill>
                <a:latin typeface="Segoe UI"/>
              </a:defRPr>
            </a:pPr>
            <a:r>
              <a:t>CORE ADVANTAGES OVER MANUAL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434840"/>
            <a:ext cx="4480560" cy="4114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Saves 80%+ Preparation Time: </a:t>
            </a:r>
            <a:r>
              <a:rPr b="0">
                <a:solidFill>
                  <a:srgbClr val="E2E8F0"/>
                </a:solidFill>
              </a:rPr>
              <a:t>Eliminates hours spent manually cross-checking physical papers across exam years.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873752"/>
            <a:ext cx="4480560" cy="4114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Detects Exact &amp; Near-Matches: </a:t>
            </a:r>
            <a:r>
              <a:rPr b="0">
                <a:solidFill>
                  <a:srgbClr val="E2E8F0"/>
                </a:solidFill>
              </a:rPr>
              <a:t>Regex normalizer catches recurring questions even when wording differs slightly.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12664"/>
            <a:ext cx="4480560" cy="4114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Scanned PDF OCR Alert: </a:t>
            </a:r>
            <a:r>
              <a:rPr b="0">
                <a:solidFill>
                  <a:srgbClr val="E2E8F0"/>
                </a:solidFill>
              </a:rPr>
              <a:t>Intelligently flags scanned or password-protected PDFs that require OCR preprocessing.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751576"/>
            <a:ext cx="4480560" cy="4114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✔ Direct Timetable Export: </a:t>
            </a:r>
            <a:r>
              <a:rPr b="0">
                <a:solidFill>
                  <a:srgbClr val="E2E8F0"/>
                </a:solidFill>
              </a:rPr>
              <a:t>Frequency scores feed directly into the AI Timetable maker for targeted study.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3977639"/>
            <a:ext cx="5516575" cy="24231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40690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LIVE ANALYZER OUTPUT PREVIEW (pages/que.py)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4434840"/>
            <a:ext cx="256032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Question Excerpt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434840"/>
            <a:ext cx="100584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Occurrences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4434840"/>
            <a:ext cx="77724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Repeated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4434840"/>
            <a:ext cx="59436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Priority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4754880"/>
            <a:ext cx="256032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Segoe UI"/>
              </a:defRPr>
            </a:pPr>
            <a:r>
              <a:t>Explain AVL Tree rotations with insertion examples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754880"/>
            <a:ext cx="100584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4 Times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4754880"/>
            <a:ext cx="77724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 b="1">
                <a:solidFill>
                  <a:srgbClr val="F43F5E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754880"/>
            <a:ext cx="59436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 b="1">
                <a:solidFill>
                  <a:srgbClr val="F43F5E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5120640"/>
            <a:ext cx="256032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Segoe UI"/>
              </a:defRPr>
            </a:pPr>
            <a:r>
              <a:t>Differentiate DFS and BFS traversal with complexity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5120640"/>
            <a:ext cx="100584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3 Times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5120640"/>
            <a:ext cx="77724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 b="1">
                <a:solidFill>
                  <a:srgbClr val="F43F5E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44200" y="5120640"/>
            <a:ext cx="59436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 b="1">
                <a:solidFill>
                  <a:srgbClr val="F43F5E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5486400"/>
            <a:ext cx="256032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Segoe UI"/>
              </a:defRPr>
            </a:pPr>
            <a:r>
              <a:t>Derive Master Theorem cases for recursive recurrence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5486400"/>
            <a:ext cx="100584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2 Times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5486400"/>
            <a:ext cx="77724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44200" y="5486400"/>
            <a:ext cx="59436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Segoe UI"/>
              </a:defRPr>
            </a:pPr>
            <a:r>
              <a:t>MED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0" y="5852160"/>
            <a:ext cx="256032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FFFFFF"/>
                </a:solidFill>
                <a:latin typeface="Segoe UI"/>
              </a:defRPr>
            </a:pPr>
            <a:r>
              <a:t>Define B-Trees and state minimum degree properties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5852160"/>
            <a:ext cx="100584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1 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5852160"/>
            <a:ext cx="77724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 b="1">
                <a:solidFill>
                  <a:srgbClr val="00E5A3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44200" y="5852160"/>
            <a:ext cx="59436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50" b="1">
                <a:solidFill>
                  <a:srgbClr val="00E5A3"/>
                </a:solidFill>
                <a:latin typeface="Segoe UI"/>
              </a:defRPr>
            </a:pPr>
            <a:r>
              <a:t>NORM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A3"/>
                </a:solidFill>
                <a:latin typeface="Segoe UI"/>
              </a:defRPr>
            </a:pPr>
            <a:r>
              <a:t>GAMIFIED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Today's Achievement: Daily Milestone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Encouraging consistent study habits through micro-goals, badges, and progress logging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754880" cy="457200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83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A3"/>
                </a:solidFill>
                <a:latin typeface="Segoe UI"/>
              </a:defRPr>
            </a:pPr>
            <a:r>
              <a:t>MILESTONE TRACKER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★  Daily Accomplishment Logging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Provides dedicated forms to record completed study goals, finished chapters, and problem sets.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18688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★  Multi-Category Tagging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Organizes entries across categories: Study, Coding, Revision, Project, and Personal Development.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68496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★  Instant Status Management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Tracks completion status (Completed, In Progress, Review Needed) to prevent unfinished tasks.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718304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★  Persistent CSV &amp; DB Storage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Maintains local achievements.csv ensuring zero progress loss between browser sessions.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468112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★  Positive Reinforcement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Features 'Level Up' badges and visual momentum cards to sustain high student morale.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828800"/>
            <a:ext cx="5699455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89320" y="2011680"/>
            <a:ext cx="5242255" cy="96012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103120"/>
            <a:ext cx="4846320" cy="7772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⚡ LEVEL UP: 5-DAY STUDY STREAK ACTIVE!</a:t>
            </a:r>
          </a:p>
          <a:p>
            <a:pPr>
              <a:defRPr sz="900">
                <a:solidFill>
                  <a:srgbClr val="E2E8F0"/>
                </a:solidFill>
                <a:latin typeface="Segoe UI"/>
              </a:defRPr>
            </a:pPr>
            <a:r>
              <a:t>You have completed 18 study milestones this week. Consistency rating: 94%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3154680"/>
            <a:ext cx="5242255" cy="868680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3227832"/>
            <a:ext cx="4846320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Completed 4 Previous Exam Question Papers</a:t>
            </a:r>
          </a:p>
          <a:p>
            <a:pPr>
              <a:defRPr sz="850">
                <a:solidFill>
                  <a:srgbClr val="00E5A3"/>
                </a:solidFill>
                <a:latin typeface="Segoe UI"/>
              </a:defRPr>
            </a:pPr>
            <a:r>
              <a:t>Category: Question Analyzer   •   STATUS: COMPLETED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4160520"/>
            <a:ext cx="5242255" cy="868680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4233672"/>
            <a:ext cx="4846320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Mastered Dynamic Programming Memoization</a:t>
            </a:r>
          </a:p>
          <a:p>
            <a:pPr>
              <a:defRPr sz="850">
                <a:solidFill>
                  <a:srgbClr val="00E5A3"/>
                </a:solidFill>
                <a:latin typeface="Segoe UI"/>
              </a:defRPr>
            </a:pPr>
            <a:r>
              <a:t>Category: AI Assistant Tutoring   •   STATUS: COMPLETED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5166360"/>
            <a:ext cx="5242255" cy="868680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5239512"/>
            <a:ext cx="4846320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3-Hour Focused Timetable Study Session</a:t>
            </a:r>
          </a:p>
          <a:p>
            <a:pPr>
              <a:defRPr sz="850">
                <a:solidFill>
                  <a:srgbClr val="38BDF8"/>
                </a:solidFill>
                <a:latin typeface="Segoe UI"/>
              </a:defRPr>
            </a:pPr>
            <a:r>
              <a:t>Category: Timetable Maker   •   STATUS: IN PROGRESS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A3"/>
                </a:solidFill>
                <a:latin typeface="Segoe UI"/>
              </a:defRPr>
            </a:pPr>
            <a:r>
              <a:t>FOCUS &amp; TIME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Study Timer &amp; Timetable Maker: Smart 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Balancing available study hours with curriculum syllabus using AI-driven allocation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754880" cy="457200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83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SMART FOCUS &amp; TIMETABLE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⏱  AI-Powered Study Schedule Generation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Takes student available hours (e.g. 2.5 hrs) and syllabus PDF, synthesizing an optimized timetable.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18688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⏱  Strict Syllabus Alignment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Enforces strict constraints: zero hallucinated topics; every block maps directly to the uploaded course document.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68496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⏱  Granular Block Allocation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Divides large topics into structured 30-45 minute focus intervals separated by cognitive rest breaks.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718304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⏱  Chat Database Integration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Automatically saves generated study timetables into chat_history.db for quick recall and daily tracking.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468112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⏱  Focus Duration Accountability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Encourages deep work sessions, significantly reducing student multitasking and distraction.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828800"/>
            <a:ext cx="5699455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89320" y="2011680"/>
            <a:ext cx="5242255" cy="123444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103120"/>
            <a:ext cx="4846320" cy="10515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00" b="1">
                <a:solidFill>
                  <a:srgbClr val="00E5A3"/>
                </a:solidFill>
                <a:latin typeface="Segoe UI"/>
              </a:defRPr>
            </a:pPr>
            <a:r>
              <a:t>FOCUS SESSION IN PROGRESS  •  AVAILABLE TIME: 2 HRS 30 MIN</a:t>
            </a:r>
          </a:p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01 : 45 : 00</a:t>
            </a:r>
          </a:p>
          <a:p>
            <a:pPr>
              <a:defRPr sz="850">
                <a:solidFill>
                  <a:srgbClr val="38BDF8"/>
                </a:solidFill>
                <a:latin typeface="Segoe UI"/>
              </a:defRPr>
            </a:pPr>
            <a:r>
              <a:t>Active Block: Module 2 — Binary Search Trees &amp; Balanced Trees (45 min remaining)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3832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2E8F0"/>
                </a:solidFill>
                <a:latin typeface="Segoe UI"/>
              </a:defRPr>
            </a:pPr>
            <a:r>
              <a:t>GENERATED TIMETABLE (pages/timetable.py)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3703320"/>
            <a:ext cx="5242255" cy="56692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776472"/>
            <a:ext cx="4846320" cy="457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Block 1 (45 Min) — Array &amp; Linked List Traversal Analysis</a:t>
            </a:r>
          </a:p>
          <a:p>
            <a:pPr>
              <a:defRPr sz="800">
                <a:solidFill>
                  <a:srgbClr val="00E5A3"/>
                </a:solidFill>
                <a:latin typeface="Segoe UI"/>
              </a:defRPr>
            </a:pPr>
            <a:r>
              <a:t>Status: COMPLETED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4325112"/>
            <a:ext cx="5242255" cy="56692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4398264"/>
            <a:ext cx="4846320" cy="457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Block 2 (45 Min) — Binary Search Trees &amp; Balancing (Active)</a:t>
            </a:r>
          </a:p>
          <a:p>
            <a:pPr>
              <a:defRPr sz="800">
                <a:solidFill>
                  <a:srgbClr val="38BDF8"/>
                </a:solidFill>
                <a:latin typeface="Segoe UI"/>
              </a:defRPr>
            </a:pPr>
            <a:r>
              <a:t>Status: IN PROGRESS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4946904"/>
            <a:ext cx="5242255" cy="56692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5020056"/>
            <a:ext cx="4846320" cy="457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Break (15 Min) — Cognitive Rest &amp; Hydration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Status: UPCOMING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5568696"/>
            <a:ext cx="5242255" cy="56692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5641848"/>
            <a:ext cx="4846320" cy="457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Block 3 (45 Min) — Graph Representation: Matrix vs Adjacency</a:t>
            </a:r>
          </a:p>
          <a:p>
            <a:pPr>
              <a:defRPr sz="800">
                <a:solidFill>
                  <a:srgbClr val="8B5CF6"/>
                </a:solidFill>
                <a:latin typeface="Segoe UI"/>
              </a:defRPr>
            </a:pPr>
            <a:r>
              <a:t>Status: SCHEDULED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A3"/>
                </a:solidFill>
                <a:latin typeface="Segoe UI"/>
              </a:defRPr>
            </a:pPr>
            <a:r>
              <a:t>AUDIT TRAIL &amp;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History &amp; Progress Tracking: Long-Term Visibility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Complete archival of AI interactions, analyzed papers, and timetables in local SQLite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754880" cy="457200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83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Segoe UI"/>
              </a:defRPr>
            </a:pPr>
            <a:r>
              <a:t>HISTORY &amp; AUDIT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📊  Centralized SQLite Persistence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Stores all user queries, model responses, timestamps, and dates in chat_history.db.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18688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📊  User-Isolated Query History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Enforces foreign-key user_id mapping so each student only accesses their own study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68496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📊  Search, Filter &amp; Review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Allows instant searching by keyword, paper title, or session date to revisit past study solutions.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718304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📊  Soft Deletion Management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Includes safe deletion protocols (deleted flag) maintaining audit integrity while decluttering views.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468112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📊  Long-Term Study Habit Analytics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Provides historical visibility into study consistency, helping students identify academic improvement trends.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828800"/>
            <a:ext cx="5699455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20116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8B5CF6"/>
                </a:solidFill>
                <a:latin typeface="Segoe UI"/>
              </a:defRPr>
            </a:pPr>
            <a:r>
              <a:t>ACTIVITY LOG &amp; CHAT HISTORY PREVIEW (pages/his.py)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2423160"/>
            <a:ext cx="5242255" cy="868680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496312"/>
            <a:ext cx="4846320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Timetable: Operating_Systems_Final.pdf (3 Hours)</a:t>
            </a:r>
          </a:p>
          <a:p>
            <a:pPr>
              <a:defRPr sz="819">
                <a:solidFill>
                  <a:srgbClr val="94A3B8"/>
                </a:solidFill>
                <a:latin typeface="Segoe UI"/>
              </a:defRPr>
            </a:pPr>
            <a:r>
              <a:t>Date: 23-09-2025 | 10:45 AM  •  Generated 4-stage study plan for memory management &amp; scheduling.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3383280"/>
            <a:ext cx="5242255" cy="868680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456432"/>
            <a:ext cx="4846320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AI Q&amp;A: Explain Semaphore vs Mutex with code examples</a:t>
            </a:r>
          </a:p>
          <a:p>
            <a:pPr>
              <a:defRPr sz="819">
                <a:solidFill>
                  <a:srgbClr val="94A3B8"/>
                </a:solidFill>
                <a:latin typeface="Segoe UI"/>
              </a:defRPr>
            </a:pPr>
            <a:r>
              <a:t>Date: 22-09-2025 | 04:15 PM  •  Gemini 3.6 Flash returned 3 comparison points &amp; synchronization demo.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4343400"/>
            <a:ext cx="5242255" cy="868680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4416552"/>
            <a:ext cx="4846320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Question Paper Analysis: 5 Previous Year Papers (DSA)</a:t>
            </a:r>
          </a:p>
          <a:p>
            <a:pPr>
              <a:defRPr sz="819">
                <a:solidFill>
                  <a:srgbClr val="94A3B8"/>
                </a:solidFill>
                <a:latin typeface="Segoe UI"/>
              </a:defRPr>
            </a:pPr>
            <a:r>
              <a:t>Date: 21-09-2025 | 02:30 PM  •  Extracted 148 questions; flagged 26 recurring exam questions.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5303520"/>
            <a:ext cx="5242255" cy="868680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5376672"/>
            <a:ext cx="4846320" cy="7315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Milestone Logged: Completed Unit 4 Dynamic Programming</a:t>
            </a:r>
          </a:p>
          <a:p>
            <a:pPr>
              <a:defRPr sz="819">
                <a:solidFill>
                  <a:srgbClr val="94A3B8"/>
                </a:solidFill>
                <a:latin typeface="Segoe UI"/>
              </a:defRPr>
            </a:pPr>
            <a:r>
              <a:t>Date: 20-09-2025 | 08:20 PM  •  Recorded into achievements.csv with status: COMPLETED.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A3"/>
                </a:solidFill>
                <a:latin typeface="Segoe UI"/>
              </a:defRPr>
            </a:pPr>
            <a:r>
              <a:t>AUTHENTICATION &amp;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Login &amp; User Experience: Secure &amp; Personalized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Robust session management, SHA-256 data isolation, and cohesive aesthetic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754880" cy="457200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283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E5A3"/>
                </a:solidFill>
                <a:latin typeface="Segoe UI"/>
              </a:defRPr>
            </a:pPr>
            <a:r>
              <a:t>SECURITY ARCHITECTURE &amp; USER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🔒  SHA-256 Cryptographic Hashing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Zero plain-text password storage; all student credentials securely salted and hashed in auth.db.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18688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🔒  Strict User Data Isolation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Every user session is assigned a unique token; history, achievements, and papers remain completely private.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68496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🔒  Automated Auth Gate (auth_gate())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Unauthenticated visitors are automatically intercepted and routed to the sign-in modal across all pages.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718304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🔒  Streamlined Sign In / Sign Up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Features clean tabbed authentication with email verification, validation checks, and error toasts.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468112"/>
            <a:ext cx="4297680" cy="685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🔒  Cohesive Design Language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Modern CSS system with Material Symbols Outlined, dark navy surfaces, and vibrant teal/cyan accents.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828800"/>
            <a:ext cx="5699455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89320" y="2103120"/>
            <a:ext cx="2377440" cy="3931920"/>
          </a:xfrm>
          <a:prstGeom prst="roundRect">
            <a:avLst/>
          </a:prstGeom>
          <a:solidFill>
            <a:srgbClr val="131D36"/>
          </a:solidFill>
          <a:ln w="1524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240280"/>
            <a:ext cx="2103120" cy="35661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00" b="1">
                <a:solidFill>
                  <a:srgbClr val="00E5A3"/>
                </a:solidFill>
                <a:latin typeface="Segoe UI"/>
              </a:defRPr>
            </a:pPr>
            <a:r>
              <a:t>SIGN IN TO EDUSEARCH</a:t>
            </a:r>
          </a:p>
          <a:p>
            <a:br/>
            <a:pPr>
              <a:defRPr sz="819">
                <a:solidFill>
                  <a:srgbClr val="E2E8F0"/>
                </a:solidFill>
                <a:latin typeface="Segoe UI"/>
              </a:defRPr>
            </a:pPr>
            <a:r>
              <a:t>Username / Email:</a:t>
            </a:r>
            <a:br/>
            <a:r>
              <a:t>[student@university.edu]</a:t>
            </a:r>
          </a:p>
          <a:p>
            <a:pPr>
              <a:defRPr sz="819">
                <a:solidFill>
                  <a:srgbClr val="E2E8F0"/>
                </a:solidFill>
                <a:latin typeface="Segoe UI"/>
              </a:defRPr>
            </a:pPr>
            <a:r>
              <a:t>Password:</a:t>
            </a:r>
            <a:br/>
            <a:r>
              <a:t>[••••••••••••]</a:t>
            </a:r>
          </a:p>
          <a:p>
            <a:pPr>
              <a:defRPr sz="819">
                <a:solidFill>
                  <a:srgbClr val="E2E8F0"/>
                </a:solidFill>
                <a:latin typeface="Segoe UI"/>
              </a:defRPr>
            </a:pPr>
            <a:r>
              <a:t>Security:</a:t>
            </a:r>
            <a:br/>
            <a:r>
              <a:t>[SHA-256 Verified]</a:t>
            </a:r>
          </a:p>
          <a:p>
            <a:br/>
            <a:pPr>
              <a:defRPr sz="900" b="1">
                <a:solidFill>
                  <a:srgbClr val="00E5A3"/>
                </a:solidFill>
                <a:latin typeface="Segoe UI"/>
              </a:defRPr>
            </a:pPr>
            <a:r>
              <a:t>[ ➔  Sign In Button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657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103120"/>
            <a:ext cx="2331720" cy="3931920"/>
          </a:xfrm>
          <a:prstGeom prst="roundRect">
            <a:avLst/>
          </a:prstGeom>
          <a:solidFill>
            <a:srgbClr val="1B2848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2240280"/>
            <a:ext cx="2057400" cy="35661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900" b="1">
                <a:solidFill>
                  <a:srgbClr val="38BDF8"/>
                </a:solidFill>
                <a:latin typeface="Segoe UI"/>
              </a:defRPr>
            </a:pPr>
            <a:r>
              <a:t>PERSONALIZED WORKSPACE</a:t>
            </a:r>
          </a:p>
          <a:p>
            <a:br/>
            <a:pPr>
              <a:defRPr sz="819">
                <a:solidFill>
                  <a:srgbClr val="E2E8F0"/>
                </a:solidFill>
                <a:latin typeface="Segoe UI"/>
              </a:defRPr>
            </a:pPr>
            <a:r>
              <a:t>Active User:</a:t>
            </a:r>
            <a:br/>
            <a:r>
              <a:t>Welcome, Alex [ID: #104]</a:t>
            </a:r>
          </a:p>
          <a:p>
            <a:pPr>
              <a:defRPr sz="819">
                <a:solidFill>
                  <a:srgbClr val="E2E8F0"/>
                </a:solidFill>
                <a:latin typeface="Segoe UI"/>
              </a:defRPr>
            </a:pPr>
            <a:r>
              <a:t>Personalized Data:</a:t>
            </a:r>
            <a:br/>
            <a:r>
              <a:t>• 12 Papers Analyzed</a:t>
            </a:r>
            <a:br/>
            <a:r>
              <a:t>• 48 Chat Sessions</a:t>
            </a:r>
            <a:br/>
            <a:r>
              <a:t>• 5 Active Goals</a:t>
            </a:r>
          </a:p>
          <a:p>
            <a:pPr>
              <a:defRPr sz="819">
                <a:solidFill>
                  <a:srgbClr val="E2E8F0"/>
                </a:solidFill>
                <a:latin typeface="Segoe UI"/>
              </a:defRPr>
            </a:pPr>
            <a:r>
              <a:t>Auth Token:</a:t>
            </a:r>
            <a:br/>
            <a:r>
              <a:t>Session Active (auth_sessions)</a:t>
            </a:r>
          </a:p>
          <a:p>
            <a:pPr>
              <a:defRPr sz="819">
                <a:solidFill>
                  <a:srgbClr val="E2E8F0"/>
                </a:solidFill>
                <a:latin typeface="Segoe UI"/>
              </a:defRPr>
            </a:pPr>
            <a:r>
              <a:t>Logout Action:</a:t>
            </a:r>
            <a:br/>
            <a:r>
              <a:t>[Sign Out Button]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B2848"/>
          </a:solidFill>
          <a:ln w="1270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0E5A3"/>
                </a:solidFill>
                <a:latin typeface="Segoe UI"/>
              </a:defRPr>
            </a:pPr>
            <a:r>
              <a:t>SUMMARY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Conclusion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Transforming student productivity today while engineering the future of education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38404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00E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A3"/>
                </a:solidFill>
                <a:latin typeface="Segoe UI"/>
              </a:defRPr>
            </a:pPr>
            <a:r>
              <a:t>PROJECT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4663440" cy="6400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✔  Integrated All-in-One Platform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Successfully unifies exam question paper analysis, AI academic tutoring, focus scheduling, and achievement tracking in one cohesive environment.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72968"/>
            <a:ext cx="4663440" cy="6400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✔  Eliminates Fragmented Workflows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Replaces scattered apps with a centralized student command center, saving significant study time and mental bandwidth.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22776"/>
            <a:ext cx="4663440" cy="6400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✔  Measurable Academic Productivity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Transforms passive document reading into structured, question-driven study sessions with clear daily milestones.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672584"/>
            <a:ext cx="4663440" cy="6400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✔  Robust &amp; Resilient Architecture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Combines local SQLite privacy with Google Gemini 3.6 Flash and multi-key failover for reliable academic tutoring.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242255" cy="384048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FUTURE ROADMAP &amp;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23160"/>
            <a:ext cx="475488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🚀  Advanced AI Personalization</a:t>
            </a:r>
          </a:p>
          <a:p>
            <a:pPr>
              <a:defRPr sz="880">
                <a:solidFill>
                  <a:srgbClr val="94A3B8"/>
                </a:solidFill>
                <a:latin typeface="Segoe UI"/>
              </a:defRPr>
            </a:pPr>
            <a:r>
              <a:t>Adaptive difficulty tuning, weak-topic diagnostics, and automated exam probability scoring.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044952"/>
            <a:ext cx="475488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🚀  Voice-Based Learning Assistant</a:t>
            </a:r>
          </a:p>
          <a:p>
            <a:pPr>
              <a:defRPr sz="880">
                <a:solidFill>
                  <a:srgbClr val="94A3B8"/>
                </a:solidFill>
                <a:latin typeface="Segoe UI"/>
              </a:defRPr>
            </a:pPr>
            <a:r>
              <a:t>Full conversational voice Q&amp;A and real-time lecture speech-to-text live summarization.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666744"/>
            <a:ext cx="475488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🚀  Deep Academic Analytics</a:t>
            </a:r>
          </a:p>
          <a:p>
            <a:pPr>
              <a:defRPr sz="880">
                <a:solidFill>
                  <a:srgbClr val="94A3B8"/>
                </a:solidFill>
                <a:latin typeface="Segoe UI"/>
              </a:defRPr>
            </a:pPr>
            <a:r>
              <a:t>Predictive learning velocity curves, subject mastery heatmaps, and revision reminders.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288536"/>
            <a:ext cx="475488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🚀  Additional Educational Tools</a:t>
            </a:r>
          </a:p>
          <a:p>
            <a:pPr>
              <a:defRPr sz="880">
                <a:solidFill>
                  <a:srgbClr val="94A3B8"/>
                </a:solidFill>
                <a:latin typeface="Segoe UI"/>
              </a:defRPr>
            </a:pPr>
            <a:r>
              <a:t>Interactive flashcard generator, mock quiz engine, and LaTeX formula solver.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910328"/>
            <a:ext cx="4754880" cy="594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🚀  Mobile Application Integration</a:t>
            </a:r>
          </a:p>
          <a:p>
            <a:pPr>
              <a:defRPr sz="880">
                <a:solidFill>
                  <a:srgbClr val="94A3B8"/>
                </a:solidFill>
                <a:latin typeface="Segoe UI"/>
              </a:defRPr>
            </a:pPr>
            <a:r>
              <a:t>Cross-platform Flutter/React Native companion apps with push alerts and offline synchronization.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806440"/>
            <a:ext cx="10728655" cy="685800"/>
          </a:xfrm>
          <a:prstGeom prst="roundRect">
            <a:avLst/>
          </a:prstGeom>
          <a:solidFill>
            <a:srgbClr val="1B284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97880"/>
            <a:ext cx="103628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“ EduSearch AI — Learn Smarter. Study Better. Achieve More. 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